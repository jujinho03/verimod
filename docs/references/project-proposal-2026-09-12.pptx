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35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451, 주제 VeriMod. 한 줄 정의로 시작한다.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정의와 트랙 부합을 먼저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사회·기술·규제 세 축으로 문제를 정의한다.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서비스 이름을 들어 현재 방식의 한계를 짚는다. 각 사례의 공통점은 기록을 감사받는 당사자가 통제한다는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표로 축별 차이를 못 박고 기대효과로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 흐름과 양면 사용자 구조를 함께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계층으로 스택을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블록체인 적용 방안과 AI 융합 방안을 나눠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주차별 일정과 멘토링에서 확인할 항목. 멘토는 배정 후 확정.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2인 팀. 계층을 절반씩 나누되 검증 흐름은 함께 맞춘다.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 시연 장면이 승부처. 조작이 눈앞에서 적발되는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무엇을 보장하고 무엇을 보장하지 않는지 먼저 말한다. 과장하지 않는 것이 이 프로젝트의 신뢰도다.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증빙은 전부 GitHub 하나로 수렴. 커밋 이력이 곧 개발 과정 증빙.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비전과 예상 질문 방어 논리로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599129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WEB3 시대의 블록체인·AI 융합 해커톤 (충남대 주관)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553004" y="1047750"/>
            <a:ext cx="395119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트랙 1 · AI + 블록체인 융합 서비스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143000" y="2792730"/>
            <a:ext cx="914400" cy="5715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173730"/>
            <a:ext cx="176022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038"/>
              </a:lnSpc>
              <a:buNone/>
            </a:pPr>
            <a:r>
              <a:rPr lang="en-US" sz="9900" b="1" kern="0" spc="-445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VeriMod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1143000" y="4754880"/>
            <a:ext cx="176022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가능한 AI 콘텐츠 모더레이션 감사 프로토콜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5627370"/>
            <a:ext cx="137350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22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콘텐츠를 제한한 판정과 근거를 영수증으로 발급하고, 외부 블록체인에 고정한 commitment를 기준으로 이용자가 그 기록의 무결성을 검증하고 이의제기 이력까지 추적하는 프로토콜.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686562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Decide. Prove. Appeal.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43000" y="867156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8983980"/>
            <a:ext cx="138591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451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936319" y="9006840"/>
            <a:ext cx="387575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Unavailable For Legal Reasons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93136" y="9006840"/>
            <a:ext cx="39163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github.com/jujinho03/verimod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025092" y="9006840"/>
            <a:ext cx="233189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기획제안서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1127403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82215"/>
            <a:ext cx="15697200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88"/>
              </a:lnSpc>
              <a:buNone/>
            </a:pPr>
            <a:r>
              <a:rPr lang="en-US" sz="3300" b="1" kern="0" spc="-82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제한 조치에 대한 </a:t>
            </a:r>
            <a:r>
              <a:rPr lang="en-US" sz="3300" b="1" kern="0" spc="-82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가능한 영수증 </a:t>
            </a:r>
            <a:r>
              <a:rPr lang="en-US" sz="3300" b="1" kern="0" spc="-82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판정 기록을 외부 원장에 고정하고, 이용자가 받은 사본과 직접 대조한다.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43000" y="4231005"/>
            <a:ext cx="3814763" cy="2362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4573905"/>
            <a:ext cx="3567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Decide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28750" y="5050155"/>
            <a:ext cx="33405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항목 점수를 내고, 정책 계층이 승인·검토 보류·제한을 결정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05413" y="4231005"/>
            <a:ext cx="3814763" cy="2362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5491163" y="4573905"/>
            <a:ext cx="3567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Prove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491163" y="5050155"/>
            <a:ext cx="33405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영수증을 결정적으로 직렬화·해싱하고, Merkle root를 온체인에 고정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67825" y="4231005"/>
            <a:ext cx="3814763" cy="2362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9553575" y="4573905"/>
            <a:ext cx="3567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553575" y="5050155"/>
            <a:ext cx="33405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이용자가 body hash와 inclusion proof를 재계산해 신뢰한 root와 대조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330238" y="4231005"/>
            <a:ext cx="3814763" cy="2362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13615988" y="4573905"/>
            <a:ext cx="35675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Appeal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615988" y="5050155"/>
            <a:ext cx="33405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이의제기와 사람 검토가 최초 판정에 연결된 새 기록으로 남음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43000" y="7012305"/>
            <a:ext cx="45720" cy="90297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9" name="Text 17"/>
          <p:cNvSpPr/>
          <p:nvPr/>
        </p:nvSpPr>
        <p:spPr>
          <a:xfrm>
            <a:off x="1455420" y="7050405"/>
            <a:ext cx="15902788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73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블록체인이 보증하는 것은 AI 판정의 정답 여부가 아니다. 영수증이 기준 commitment와 일치하는지, 그 commitment가 외부 원장에 포함되어 있는지를 확인하는 것이다.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889254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9166860"/>
            <a:ext cx="24119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 </a:t>
            </a: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VeriMod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869055" y="9166860"/>
            <a:ext cx="184796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 </a:t>
            </a: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451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082427" y="9166860"/>
            <a:ext cx="468750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트랙 </a:t>
            </a: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트랙 1 — AI + 블록체인 융합 서비스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4534269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및 배경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06015"/>
            <a:ext cx="15893415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261"/>
              </a:lnSpc>
              <a:buNone/>
            </a:pPr>
            <a:r>
              <a:rPr lang="en-US" sz="2850" b="1" kern="0" spc="-57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판정하는 주체와 그 기록을 보관하는 주체가 같을 때, 이용자는 받은 사유가 </a:t>
            </a:r>
            <a:r>
              <a:rPr lang="en-US" sz="2850" b="1" kern="0" spc="-57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당시 기록과 같은지 </a:t>
            </a:r>
            <a:r>
              <a:rPr lang="en-US" sz="2850" b="1" kern="0" spc="-57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독립적으로 대조하기 어렵다.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43000" y="3949065"/>
            <a:ext cx="5003721" cy="3810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253865"/>
            <a:ext cx="5504093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배경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4905375"/>
            <a:ext cx="5153832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35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삭제·차단·숨김·노출 제한·검토 보류가 자동으로 발생한다. 사유가 제공되더라도 점수·모델·정책이 실제 판정 당시와 같은지 이용자가 대조할 근거는 남지 않는다.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642021" y="3949065"/>
            <a:ext cx="5003840" cy="3810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0" name="Text 8"/>
          <p:cNvSpPr/>
          <p:nvPr/>
        </p:nvSpPr>
        <p:spPr>
          <a:xfrm>
            <a:off x="6642021" y="4253865"/>
            <a:ext cx="550422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원인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42021" y="4905375"/>
            <a:ext cx="5153955" cy="135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35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주체와 기록 관리 주체가 같아 신뢰 의존성이 생긴다. 이용자는 플랫폼의 현재 DB 조회 결과 외에 비교할 기준점을 갖지 못한다.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41160" y="3949065"/>
            <a:ext cx="5003840" cy="3810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3" name="Text 11"/>
          <p:cNvSpPr/>
          <p:nvPr/>
        </p:nvSpPr>
        <p:spPr>
          <a:xfrm>
            <a:off x="12141160" y="4253865"/>
            <a:ext cx="550422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배경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41160" y="4905375"/>
            <a:ext cx="5153955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35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DSA는 결정 사유 설명과 공개 투명성 데이터베이스를, EU AI Act는 고위험 자동결정의 기록 의무를 다룬다. 한국 AI 기본법은 2026년 1월 22일 시행됐다.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7675245"/>
            <a:ext cx="8396168" cy="1849755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7980045"/>
            <a:ext cx="7886053" cy="1278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73"/>
              </a:lnSpc>
              <a:buNone/>
            </a:pPr>
            <a:r>
              <a:rPr lang="en-US" sz="2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VeriMod가 다루는 질문 — 받은 기록이 이전에 고정된 기록과 같은가, 어떤 모델·정책을 썼다고 기록했는가, 이의제기와 검토가 어느 판정에 연결되는가.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843969" y="7675245"/>
            <a:ext cx="7300913" cy="1849755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94489" y="7987665"/>
            <a:ext cx="6818900" cy="1263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법이 블록체인 도입을 요구하는 것은 아니다. 규제는 기록·설명 의무의 배경이며, 적용 범위는 서비스별로 따로 판단한다.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7425012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서비스는 어디까지 왔나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29815"/>
            <a:ext cx="169735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125"/>
              </a:lnSpc>
              <a:buNone/>
            </a:pPr>
            <a:r>
              <a:rPr lang="en-US" sz="2475" b="1" kern="0" spc="-4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방식은 이미 제 몫을 한다. VeriMod가 겨냥하는 빈틈은 </a:t>
            </a:r>
            <a:r>
              <a:rPr lang="en-US" sz="2475" b="1" kern="0" spc="-49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이용자에게 전달된 개별 기록을 외부 기준점과 대조하는 단계</a:t>
            </a:r>
            <a:r>
              <a:rPr lang="en-US" sz="2475" b="1" kern="0" spc="-4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143000" y="3182303"/>
            <a:ext cx="781050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95663"/>
            <a:ext cx="85915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알림 · 이의제기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143000" y="3887153"/>
            <a:ext cx="8591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일 — 사유 통지와 구제 경로 제공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17683"/>
            <a:ext cx="80448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남는 빈틈 — 통지 내용이 사후에 달라져도 이용자가 보유한 사본과 대조할 외부 기준이 없다.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334500" y="3182303"/>
            <a:ext cx="781050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0" y="3395663"/>
            <a:ext cx="85915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리포트 · 공개 DB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334500" y="3887153"/>
            <a:ext cx="8591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일 — DSA 투명성 데이터베이스 등 외부 관찰 지원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34500" y="4317683"/>
            <a:ext cx="80448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남는 빈틈 — 제출 시점 이후의 무결성은 제출 주체의 기록에 의존하며, 이용자 사본과의 대조 절차는 아니다.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5554028"/>
            <a:ext cx="781050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767388"/>
            <a:ext cx="85915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 모더레이션 API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143000" y="6258878"/>
            <a:ext cx="8591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일 — 항목별 점수와 판정 기능 제공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6689407"/>
            <a:ext cx="80448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남는 빈틈 — 응답을 보관·표시하는 책임은 도입 플랫폼에 있고, 저장 이후 단계는 계약 범위 밖이다.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334500" y="5554028"/>
            <a:ext cx="7810500" cy="2286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9" name="Text 17"/>
          <p:cNvSpPr/>
          <p:nvPr/>
        </p:nvSpPr>
        <p:spPr>
          <a:xfrm>
            <a:off x="9334500" y="5767388"/>
            <a:ext cx="85915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· transparency log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334500" y="6258878"/>
            <a:ext cx="85915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일 — 무결성 문제의 상당 부분을 이미 해결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34500" y="6689407"/>
            <a:ext cx="80448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남는 빈틈 — 콘텐츠 모더레이션 도메인에 맞춘 영수증 규격과 이의제기 수명주기 연결이 없다. 블록체인은 유일한 방법이 아니라 </a:t>
            </a: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선택한 공개 외부 앵커</a:t>
            </a: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143000" y="8059103"/>
            <a:ext cx="16002000" cy="1465898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23" name="Text 21"/>
          <p:cNvSpPr/>
          <p:nvPr/>
        </p:nvSpPr>
        <p:spPr>
          <a:xfrm>
            <a:off x="1562100" y="8363903"/>
            <a:ext cx="15643860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53"/>
              </a:lnSpc>
              <a:buNone/>
            </a:pPr>
            <a:r>
              <a:rPr lang="en-US" sz="2175" dirty="0">
                <a:solidFill>
                  <a:srgbClr val="FFFFFF"/>
                </a:solidFill>
                <a:highlight>
                  <a:srgbClr val="16181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VeriMod가 강조하는 차이 — </a:t>
            </a:r>
            <a:r>
              <a:rPr lang="en-US" sz="2175" b="1" dirty="0">
                <a:solidFill>
                  <a:srgbClr val="9DB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receipt 전달 · 플랫폼 외부의 공개 commitment · 이용자의 직접 검증 · 이의제기 수명주기 연결 </a:t>
            </a:r>
            <a:r>
              <a:rPr lang="en-US" sz="2175" dirty="0">
                <a:solidFill>
                  <a:srgbClr val="FFFFFF"/>
                </a:solidFill>
                <a:highlight>
                  <a:srgbClr val="16181D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세계 최초를 주장하지 않는다.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4950095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차별성 및 기대효과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3036570"/>
            <a:ext cx="2720340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2510790"/>
            <a:ext cx="23828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축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863340" y="3036570"/>
            <a:ext cx="3028236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Text 5"/>
          <p:cNvSpPr/>
          <p:nvPr/>
        </p:nvSpPr>
        <p:spPr>
          <a:xfrm>
            <a:off x="4072890" y="2510790"/>
            <a:ext cx="269998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자체 통보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891576" y="3036570"/>
            <a:ext cx="3680341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/>
          <p:nvPr/>
        </p:nvSpPr>
        <p:spPr>
          <a:xfrm>
            <a:off x="7101126" y="2510790"/>
            <a:ext cx="337165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 리포트 · 공개 DB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571916" y="3036570"/>
            <a:ext cx="2498646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Text 9"/>
          <p:cNvSpPr/>
          <p:nvPr/>
        </p:nvSpPr>
        <p:spPr>
          <a:xfrm>
            <a:off x="10781466" y="2510790"/>
            <a:ext cx="215574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모더레이션 API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070563" y="2320290"/>
            <a:ext cx="4074438" cy="73152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3070563" y="3036570"/>
            <a:ext cx="4074438" cy="1524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4" name="Text 12"/>
          <p:cNvSpPr/>
          <p:nvPr/>
        </p:nvSpPr>
        <p:spPr>
          <a:xfrm>
            <a:off x="13280113" y="2510790"/>
            <a:ext cx="377757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VeriMod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3794760"/>
            <a:ext cx="272034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3242310"/>
            <a:ext cx="23828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위치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863340" y="3794760"/>
            <a:ext cx="302823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072890" y="3242310"/>
            <a:ext cx="26999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중앙 DB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891576" y="3794760"/>
            <a:ext cx="3680341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101126" y="3242310"/>
            <a:ext cx="33716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기관 데이터베이스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571916" y="3794760"/>
            <a:ext cx="249864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1466" y="3242310"/>
            <a:ext cx="21557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도입사 DB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070563" y="3051810"/>
            <a:ext cx="4074438" cy="75057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3070563" y="3794760"/>
            <a:ext cx="4074438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5" name="Text 23"/>
          <p:cNvSpPr/>
          <p:nvPr/>
        </p:nvSpPr>
        <p:spPr>
          <a:xfrm>
            <a:off x="13280113" y="3242310"/>
            <a:ext cx="37775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Merkle root 온체인 고정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43000" y="4541520"/>
            <a:ext cx="272034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7" name="Text 25"/>
          <p:cNvSpPr/>
          <p:nvPr/>
        </p:nvSpPr>
        <p:spPr>
          <a:xfrm>
            <a:off x="1352550" y="3992880"/>
            <a:ext cx="23828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보유물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3863340" y="4541520"/>
            <a:ext cx="302823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072890" y="3992880"/>
            <a:ext cx="269998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통지문 사본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6891576" y="4541520"/>
            <a:ext cx="3680341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1" name="Text 29"/>
          <p:cNvSpPr/>
          <p:nvPr/>
        </p:nvSpPr>
        <p:spPr>
          <a:xfrm>
            <a:off x="7101126" y="3992880"/>
            <a:ext cx="33716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없음(집계 열람)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571916" y="4541520"/>
            <a:ext cx="249864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1466" y="3992880"/>
            <a:ext cx="215574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3070563" y="3802380"/>
            <a:ext cx="4074438" cy="7467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3070563" y="4541520"/>
            <a:ext cx="4074438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6" name="Text 34"/>
          <p:cNvSpPr/>
          <p:nvPr/>
        </p:nvSpPr>
        <p:spPr>
          <a:xfrm>
            <a:off x="13280113" y="3992880"/>
            <a:ext cx="37775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receipt · proof · anchor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143000" y="5288280"/>
            <a:ext cx="272034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8" name="Text 36"/>
          <p:cNvSpPr/>
          <p:nvPr/>
        </p:nvSpPr>
        <p:spPr>
          <a:xfrm>
            <a:off x="1352550" y="4739640"/>
            <a:ext cx="23828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주체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3863340" y="5288280"/>
            <a:ext cx="302823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0" name="Text 38"/>
          <p:cNvSpPr/>
          <p:nvPr/>
        </p:nvSpPr>
        <p:spPr>
          <a:xfrm>
            <a:off x="4072890" y="4739640"/>
            <a:ext cx="269998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6891576" y="5288280"/>
            <a:ext cx="3680341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2" name="Text 40"/>
          <p:cNvSpPr/>
          <p:nvPr/>
        </p:nvSpPr>
        <p:spPr>
          <a:xfrm>
            <a:off x="7101126" y="4739640"/>
            <a:ext cx="33716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규제기관·연구자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0571916" y="5288280"/>
            <a:ext cx="249864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4" name="Text 42"/>
          <p:cNvSpPr/>
          <p:nvPr/>
        </p:nvSpPr>
        <p:spPr>
          <a:xfrm>
            <a:off x="10781466" y="4739640"/>
            <a:ext cx="215574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기업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3070563" y="4549140"/>
            <a:ext cx="4074438" cy="7467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3070563" y="5288280"/>
            <a:ext cx="4074438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7" name="Text 45"/>
          <p:cNvSpPr/>
          <p:nvPr/>
        </p:nvSpPr>
        <p:spPr>
          <a:xfrm>
            <a:off x="13280113" y="4739640"/>
            <a:ext cx="37775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receipt를 보유한 주체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143000" y="6035040"/>
            <a:ext cx="272034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9" name="Text 47"/>
          <p:cNvSpPr/>
          <p:nvPr/>
        </p:nvSpPr>
        <p:spPr>
          <a:xfrm>
            <a:off x="1352550" y="5486400"/>
            <a:ext cx="23828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사본 대조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3863340" y="6035040"/>
            <a:ext cx="302823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1" name="Text 49"/>
          <p:cNvSpPr/>
          <p:nvPr/>
        </p:nvSpPr>
        <p:spPr>
          <a:xfrm>
            <a:off x="4072890" y="5486400"/>
            <a:ext cx="269998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응답에 의존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6891576" y="6035040"/>
            <a:ext cx="3680341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3" name="Text 51"/>
          <p:cNvSpPr/>
          <p:nvPr/>
        </p:nvSpPr>
        <p:spPr>
          <a:xfrm>
            <a:off x="7101126" y="5486400"/>
            <a:ext cx="33716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건 대조 아님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0571916" y="6035040"/>
            <a:ext cx="249864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5" name="Text 53"/>
          <p:cNvSpPr/>
          <p:nvPr/>
        </p:nvSpPr>
        <p:spPr>
          <a:xfrm>
            <a:off x="10781466" y="5486400"/>
            <a:ext cx="215574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밖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3070563" y="5295900"/>
            <a:ext cx="4074438" cy="7467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3070563" y="6035040"/>
            <a:ext cx="4074438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8" name="Text 56"/>
          <p:cNvSpPr/>
          <p:nvPr/>
        </p:nvSpPr>
        <p:spPr>
          <a:xfrm>
            <a:off x="13280113" y="5486400"/>
            <a:ext cx="37775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root와 불일치 탐지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143000" y="6781800"/>
            <a:ext cx="272034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60" name="Text 58"/>
          <p:cNvSpPr/>
          <p:nvPr/>
        </p:nvSpPr>
        <p:spPr>
          <a:xfrm>
            <a:off x="1352550" y="6233160"/>
            <a:ext cx="23828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이의 수명주기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3863340" y="6781800"/>
            <a:ext cx="302823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62" name="Text 60"/>
          <p:cNvSpPr/>
          <p:nvPr/>
        </p:nvSpPr>
        <p:spPr>
          <a:xfrm>
            <a:off x="4072890" y="6233160"/>
            <a:ext cx="269998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처리 기록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6891576" y="6781800"/>
            <a:ext cx="3680341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64" name="Text 62"/>
          <p:cNvSpPr/>
          <p:nvPr/>
        </p:nvSpPr>
        <p:spPr>
          <a:xfrm>
            <a:off x="7101126" y="6233160"/>
            <a:ext cx="337165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집계에만 반영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0571916" y="6781800"/>
            <a:ext cx="2498646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66" name="Text 64"/>
          <p:cNvSpPr/>
          <p:nvPr/>
        </p:nvSpPr>
        <p:spPr>
          <a:xfrm>
            <a:off x="10781466" y="6233160"/>
            <a:ext cx="215574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밖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13070563" y="6042660"/>
            <a:ext cx="4074438" cy="7467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3070563" y="6781800"/>
            <a:ext cx="4074438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69" name="Text 67"/>
          <p:cNvSpPr/>
          <p:nvPr/>
        </p:nvSpPr>
        <p:spPr>
          <a:xfrm>
            <a:off x="13280113" y="6233160"/>
            <a:ext cx="37775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판정에 연결된 새 기록</a:t>
            </a:r>
            <a:endParaRPr lang="en-US" sz="1950" dirty="0"/>
          </a:p>
        </p:txBody>
      </p:sp>
      <p:sp>
        <p:nvSpPr>
          <p:cNvPr id="70" name="Text 68"/>
          <p:cNvSpPr/>
          <p:nvPr/>
        </p:nvSpPr>
        <p:spPr>
          <a:xfrm>
            <a:off x="1143000" y="7059930"/>
            <a:ext cx="1648206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"검증 주체"의 범위는 receipt와 proof를 정당하게 확보한 사람이다. 모든 이용자의 상세 기록을 공개한다는 뜻이 아니며, 온체인 root만으로 비공개 판정 내용을 복원할 수는 없다.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1143000" y="7774305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72" name="Text 70"/>
          <p:cNvSpPr/>
          <p:nvPr/>
        </p:nvSpPr>
        <p:spPr>
          <a:xfrm>
            <a:off x="1143000" y="8105775"/>
            <a:ext cx="5232318" cy="168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02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</a:t>
            </a: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DSA·AI 기본법이 요구하는 기록 의무를 자동 증빙으로 전환해, 감사 대응에 드는 인력·시간 비용을 줄인다.</a:t>
            </a:r>
            <a:endParaRPr lang="en-US" sz="2025" dirty="0"/>
          </a:p>
        </p:txBody>
      </p:sp>
      <p:sp>
        <p:nvSpPr>
          <p:cNvPr id="73" name="Text 71"/>
          <p:cNvSpPr/>
          <p:nvPr/>
        </p:nvSpPr>
        <p:spPr>
          <a:xfrm>
            <a:off x="6603921" y="8105775"/>
            <a:ext cx="5232441" cy="168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02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</a:t>
            </a: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오탐으로 차단됐을 때 항목별 점수와 근거가 담긴 영수증을 확보하고, 이의제기 이력이 삭제되지 않는다.</a:t>
            </a:r>
            <a:endParaRPr lang="en-US" sz="2025" dirty="0"/>
          </a:p>
        </p:txBody>
      </p:sp>
      <p:sp>
        <p:nvSpPr>
          <p:cNvPr id="74" name="Text 72"/>
          <p:cNvSpPr/>
          <p:nvPr/>
        </p:nvSpPr>
        <p:spPr>
          <a:xfrm>
            <a:off x="12064960" y="8105775"/>
            <a:ext cx="5232441" cy="1684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02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규제기관 · 시민단체 </a:t>
            </a: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플랫폼의 협조 없이도 공개 원장에서 판정 무결성을 직접 표본 감사할 수 있다.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5152704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서비스·솔루션 개요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67915"/>
            <a:ext cx="3048000" cy="287274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9220" y="2642235"/>
            <a:ext cx="28331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· 판정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9220" y="3091815"/>
            <a:ext cx="28331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추론 + 정책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9220" y="3594735"/>
            <a:ext cx="265282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라벨의 항목 점수를 산출하고, 정책 규칙이 승인 / 검토 보류 / 제한을 결정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1500" y="2367915"/>
            <a:ext cx="3048000" cy="287274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642235"/>
            <a:ext cx="28331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· 발급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091815"/>
            <a:ext cx="28331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Receipt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17720" y="3594735"/>
            <a:ext cx="265282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모델·정책 식별, 점수, 조치, 시각, content commitment를 담은 불변 body 생성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0" y="2367915"/>
            <a:ext cx="3048000" cy="287274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6220" y="2642235"/>
            <a:ext cx="28331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· 고정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56220" y="3091815"/>
            <a:ext cx="28331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 앵커링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56220" y="3594735"/>
            <a:ext cx="265282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직렬화 후 해싱, 여러 receipt를 Merkle tree로 묶어 root를 온체인에 등록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858500" y="2367915"/>
            <a:ext cx="3048000" cy="287274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94720" y="2642235"/>
            <a:ext cx="28331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 · 검증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94720" y="3091815"/>
            <a:ext cx="28331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inclusion 확인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094720" y="3594735"/>
            <a:ext cx="265282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 hash와 proof를 재계산해 사전에 신뢰한 contract의 root와 대조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097000" y="2367915"/>
            <a:ext cx="3048000" cy="2872740"/>
          </a:xfrm>
          <a:prstGeom prst="rect">
            <a:avLst/>
          </a:prstGeom>
          <a:solidFill>
            <a:srgbClr val="F4F6FA"/>
          </a:solidFill>
          <a:ln w="7620">
            <a:solidFill>
              <a:srgbClr val="2242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333220" y="2642235"/>
            <a:ext cx="283311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 · 이의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333220" y="3091815"/>
            <a:ext cx="283311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연결된 새 기록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333220" y="3594735"/>
            <a:ext cx="265282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appeal과 사람 검토 결과를 최초 판정에 연결된 새 receipt로 발급해 후속 batch에 포함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3000" y="5697855"/>
            <a:ext cx="7810500" cy="2943225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1524000" y="6040755"/>
            <a:ext cx="77533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주체 — 플랫폼 · 사람 검토자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24000" y="6528435"/>
            <a:ext cx="7753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receipt 발급과 외부 앵커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24000" y="7099935"/>
            <a:ext cx="725995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기록을 규격화해 발급하고, 분쟁·감사 상황에서 제시할 검증 자료를 함께 남긴다. 사람 검토 결과도 최초 판정에 연결된다.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334500" y="5697855"/>
            <a:ext cx="7810500" cy="2943225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0" y="6040755"/>
            <a:ext cx="77533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9DB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주체 — 콘텐츠 작성 이용자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15500" y="6528435"/>
            <a:ext cx="7753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 보관과 직접 재검증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715500" y="7099935"/>
            <a:ext cx="7259955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D3D6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모델과 정책이 어떤 점수로 제한했는지 receipt로 보관하고, 서버의 성공 문구가 아니라 자기 브라우저의 재계산으로 확인한다.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43000" y="894588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91821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"영수증 발급 완료"와 "앵커 확인 완료"는 별개 상태로 표시한다. 앵커 대기 중에는 Verified를 표시하지 않는다.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363137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핵심기술 스택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2015490"/>
            <a:ext cx="16002000" cy="108204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5420" y="2346960"/>
            <a:ext cx="30384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계층 </a:t>
            </a:r>
            <a:r>
              <a:rPr lang="en-US" sz="225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22470" y="2370773"/>
            <a:ext cx="83861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라벨의 항목 점수와 불확실성 산출, 구조화된 evidence 추출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19636" y="2213610"/>
            <a:ext cx="45129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encoder classifier 또는 LLM 분류 </a:t>
            </a:r>
            <a:r>
              <a:rPr lang="en-US" sz="1875" dirty="0">
                <a:solidFill>
                  <a:srgbClr val="C05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(방식 미정)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143000" y="3183255"/>
            <a:ext cx="16002000" cy="81534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55420" y="3381375"/>
            <a:ext cx="30384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계층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22470" y="3405188"/>
            <a:ext cx="83861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threshold와 rule을 적용해 승인 / 검토 보류 / 제한으로 조치 확정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012931" y="3419475"/>
            <a:ext cx="4819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버전 관리 · 추론 장애와 보류 구분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143000" y="4084320"/>
            <a:ext cx="16002000" cy="1139190"/>
          </a:xfrm>
          <a:prstGeom prst="rect">
            <a:avLst/>
          </a:prstGeom>
          <a:solidFill>
            <a:srgbClr val="F4F6FA"/>
          </a:solidFill>
          <a:ln w="7620">
            <a:solidFill>
              <a:srgbClr val="2242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5420" y="4444365"/>
            <a:ext cx="30384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 계층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522470" y="4282440"/>
            <a:ext cx="78525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직렬화 → receipt hash → leaf → Merkle tree (domain separation 적용)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19636" y="4311015"/>
            <a:ext cx="45129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RFC 8785 JCS · SHA-256 · RFC 9162 방식 후보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5309235"/>
            <a:ext cx="16002000" cy="113919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5420" y="5669280"/>
            <a:ext cx="30384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앵커 계층 </a:t>
            </a:r>
            <a:r>
              <a:rPr lang="en-US" sz="225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체인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522470" y="5507355"/>
            <a:ext cx="78525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 ID · root · receipt count · protocol version을 등록, 수정 금지·중복 방지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19636" y="5535930"/>
            <a:ext cx="45129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Solidity 0.8.34 · Hardhat · EVM testnet </a:t>
            </a:r>
            <a:r>
              <a:rPr lang="en-US" sz="1875" dirty="0">
                <a:solidFill>
                  <a:srgbClr val="C05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(체인 미정)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43000" y="6534150"/>
            <a:ext cx="16002000" cy="113919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5420" y="6894195"/>
            <a:ext cx="30384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계층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522470" y="6732270"/>
            <a:ext cx="78525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원문·appeal 본문·salt·상세 proof는 접근 통제가 가능한 오프체인 저장소에 보관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012931" y="6932295"/>
            <a:ext cx="4819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 DB/스토리지 (공개 IPFS 미채택)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43000" y="7759065"/>
            <a:ext cx="16002000" cy="113919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55420" y="8119110"/>
            <a:ext cx="30384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계층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4522470" y="7957185"/>
            <a:ext cx="78525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23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재계산 → 사전 지정 contract 조회 → inclusion 성공·실패 표시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19636" y="7985760"/>
            <a:ext cx="45129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· React · TypeScript · Web Crypto · ethers.js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9069705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9229725"/>
            <a:ext cx="164820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온체인에는 root와 메타데이터만 올린다. 검증기는 전달받은 임의 contract를 믿지 않고 사전에 정한 chain·contract·issuer를 조회하며, RPC와 finality에 남는 신뢰 가정도 함께 밝힌다.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11164169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구현 계획 ① — 적용 및 융합 방안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3715"/>
            <a:ext cx="7696200" cy="3810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44115"/>
            <a:ext cx="79270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블록체인 기술 적용 방안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143000" y="3301365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receipt body를 공통 규칙으로 직렬화해, 같은 의미의 입력이 항상 같은 bytes와 hash가 되게 한다.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" y="4308158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receipt hash와 leaf hash를 domain separation으로 구분하고, 여러 receipt를 하나의 Merkle root로 묶는다.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143000" y="5314950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단위는 epoch다. 컨트랙트는 등록 권한·중복 방지·기존 값 수정 금지·조회·event를 담당한다.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3000" y="6321743"/>
            <a:ext cx="7927086" cy="1233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EVM testnet에 배포해 실제 transaction과 가스·처리량을 확인한다. 개별 판정마다 transaction을 보내는 방식으로 전환하려면 별도 합의가 필요하다.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448800" y="3053715"/>
            <a:ext cx="7696200" cy="3810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2444115"/>
            <a:ext cx="79270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블록체인 + AI 융합 방안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9448800" y="3301365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자연어 콘텐츠를 분류해 점수와 불확실성을 만들고, 정책 계층이 이를 사용자 조치로 연결한다.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448800" y="4308158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블록체인은 발급 플랫폼이 단독으로 통제하지 않는 외부 commitment 기준점을 제공한다.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448800" y="5314950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썼다고 원장 신뢰 문제가 해결되지 않고, 블록체인만으로 의미 있는 콘텐츠 판단이 생기지도 않는다. 두 계층이 각자 다른 문제를 맡는다.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448800" y="6321743"/>
            <a:ext cx="7927086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근거와 정책이 receipt에 포함되므로 사후 변경은 탐지할 수 있다. 다만 그 설명이 모델의 내부 인과라는 증명은 아니다.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143000" y="8525351"/>
            <a:ext cx="16002000" cy="999649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1562100" y="8811101"/>
            <a:ext cx="1564386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53"/>
              </a:lnSpc>
              <a:buNone/>
            </a:pPr>
            <a:r>
              <a:rPr lang="en-US" sz="2175" dirty="0">
                <a:solidFill>
                  <a:srgbClr val="16181D"/>
                </a:solidFill>
                <a:highlight>
                  <a:srgbClr val="F4F6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구현 목표 — </a:t>
            </a: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· 발급 · 앵커 · 검증 · 변조 탐지 · 이의와 사람 검토</a:t>
            </a:r>
            <a:r>
              <a:rPr lang="en-US" sz="2175" dirty="0">
                <a:solidFill>
                  <a:srgbClr val="16181D"/>
                </a:solidFill>
                <a:highlight>
                  <a:srgbClr val="F4F6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실제로 이어지는 엔드투엔드 프로토타입.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910494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구현 계획 ② — 개발 일정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8630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101215"/>
            <a:ext cx="5181600" cy="4572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2318385"/>
            <a:ext cx="55740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 9/19 사전 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0150" y="2720340"/>
            <a:ext cx="55740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· 데모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00150" y="3206115"/>
            <a:ext cx="521931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확정, 판정→발급→검증이 실제로 도는 프로토타입 데모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53200" y="2101215"/>
            <a:ext cx="5181600" cy="4572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0" name="Text 8"/>
          <p:cNvSpPr/>
          <p:nvPr/>
        </p:nvSpPr>
        <p:spPr>
          <a:xfrm>
            <a:off x="6610350" y="2318385"/>
            <a:ext cx="55740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 말 ~ 10월 말 (7주)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0350" y="2720340"/>
            <a:ext cx="55740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본개발 · 멘토링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10350" y="3206115"/>
            <a:ext cx="521931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컨트랙트 testnet 배포, 판정 정확도 개선, 검증 UI 고도화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963400" y="2101215"/>
            <a:ext cx="5181600" cy="4572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4" name="Text 12"/>
          <p:cNvSpPr/>
          <p:nvPr/>
        </p:nvSpPr>
        <p:spPr>
          <a:xfrm>
            <a:off x="12020550" y="2318385"/>
            <a:ext cx="557403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11/6 ~ 11/7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20550" y="2720340"/>
            <a:ext cx="55740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020550" y="3206115"/>
            <a:ext cx="557403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계층 통합, 시나리오 리허설, 최종 발표 및 시연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43000" y="4049078"/>
            <a:ext cx="1760220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주차별 역할 분담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143000" y="5192078"/>
            <a:ext cx="2080260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4731068"/>
            <a:ext cx="17754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23260" y="5192078"/>
            <a:ext cx="4640580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21" name="Text 19"/>
          <p:cNvSpPr/>
          <p:nvPr/>
        </p:nvSpPr>
        <p:spPr>
          <a:xfrm>
            <a:off x="3413760" y="4731068"/>
            <a:ext cx="439879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주진호 — 백엔드 · 총괄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863840" y="5192078"/>
            <a:ext cx="4640580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23" name="Text 21"/>
          <p:cNvSpPr/>
          <p:nvPr/>
        </p:nvSpPr>
        <p:spPr>
          <a:xfrm>
            <a:off x="8054340" y="4731068"/>
            <a:ext cx="439879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800" b="1" dirty="0" err="1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노유신</a:t>
            </a: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AI · 판정 정책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504420" y="5192078"/>
            <a:ext cx="4640580" cy="152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25" name="Text 23"/>
          <p:cNvSpPr/>
          <p:nvPr/>
        </p:nvSpPr>
        <p:spPr>
          <a:xfrm>
            <a:off x="12694920" y="4731068"/>
            <a:ext cx="439879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설경민</a:t>
            </a: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코어 프로토콜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5820728"/>
            <a:ext cx="208026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" y="5340668"/>
            <a:ext cx="177546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– 2주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3223260" y="582072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413760" y="5340668"/>
            <a:ext cx="439879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API 골격, 저장소 운영 규칙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7863840" y="582072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1" name="Text 29"/>
          <p:cNvSpPr/>
          <p:nvPr/>
        </p:nvSpPr>
        <p:spPr>
          <a:xfrm>
            <a:off x="8054340" y="5340668"/>
            <a:ext cx="439879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평가, 정책 규칙 초안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2504420" y="582072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2694920" y="5340668"/>
            <a:ext cx="439879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직렬화·hash 구현, contract interface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143000" y="6437948"/>
            <a:ext cx="208026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500" y="5961698"/>
            <a:ext cx="1775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– 4주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3223260" y="643794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7" name="Text 35"/>
          <p:cNvSpPr/>
          <p:nvPr/>
        </p:nvSpPr>
        <p:spPr>
          <a:xfrm>
            <a:off x="3413760" y="5961698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appeal·review 상태 처리와 권한 검증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863840" y="643794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9" name="Text 37"/>
          <p:cNvSpPr/>
          <p:nvPr/>
        </p:nvSpPr>
        <p:spPr>
          <a:xfrm>
            <a:off x="8054340" y="5961698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분석, evidence 표현, threshold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4420" y="643794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1" name="Text 39"/>
          <p:cNvSpPr/>
          <p:nvPr/>
        </p:nvSpPr>
        <p:spPr>
          <a:xfrm>
            <a:off x="12694920" y="5961698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testnet 앵커, gas 측정, appeal 연결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43000" y="7055168"/>
            <a:ext cx="208026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3" name="Text 41"/>
          <p:cNvSpPr/>
          <p:nvPr/>
        </p:nvSpPr>
        <p:spPr>
          <a:xfrm>
            <a:off x="1333500" y="6578918"/>
            <a:ext cx="1775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– 6주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3223260" y="705516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5" name="Text 43"/>
          <p:cNvSpPr/>
          <p:nvPr/>
        </p:nvSpPr>
        <p:spPr>
          <a:xfrm>
            <a:off x="3413760" y="6578918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오프체인 저장·접근 통제, 검증 화면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7863840" y="705516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7" name="Text 45"/>
          <p:cNvSpPr/>
          <p:nvPr/>
        </p:nvSpPr>
        <p:spPr>
          <a:xfrm>
            <a:off x="8054340" y="6578918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정확도 개선, 근거 품질 점검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12504420" y="705516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49" name="Text 47"/>
          <p:cNvSpPr/>
          <p:nvPr/>
        </p:nvSpPr>
        <p:spPr>
          <a:xfrm>
            <a:off x="12694920" y="6578918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proof 제공, 변조 테스트, verifier 안정화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43000" y="7672388"/>
            <a:ext cx="208026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1" name="Text 49"/>
          <p:cNvSpPr/>
          <p:nvPr/>
        </p:nvSpPr>
        <p:spPr>
          <a:xfrm>
            <a:off x="1333500" y="7196137"/>
            <a:ext cx="1775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7주 ~ 본선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3223260" y="767238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3" name="Text 51"/>
          <p:cNvSpPr/>
          <p:nvPr/>
        </p:nvSpPr>
        <p:spPr>
          <a:xfrm>
            <a:off x="3413760" y="7196137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테스트, 발표 총괄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7863840" y="767238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5" name="Text 53"/>
          <p:cNvSpPr/>
          <p:nvPr/>
        </p:nvSpPr>
        <p:spPr>
          <a:xfrm>
            <a:off x="8054340" y="7196137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시나리오·리허설 준비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2504420" y="7672388"/>
            <a:ext cx="46405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7" name="Text 55"/>
          <p:cNvSpPr/>
          <p:nvPr/>
        </p:nvSpPr>
        <p:spPr>
          <a:xfrm>
            <a:off x="12694920" y="7196137"/>
            <a:ext cx="4398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정보 정리, 장애 대응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143000" y="898398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9" name="Text 57"/>
          <p:cNvSpPr/>
          <p:nvPr/>
        </p:nvSpPr>
        <p:spPr>
          <a:xfrm>
            <a:off x="1143000" y="91821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구현 전 네 인터페이스 규격을 세 사람이 합의한 뒤 병렬 개발에 들어간다. 위 날짜는 주최 측 최신 공지와 대조 후 확정하고, 멘토는 배정 후 확정한다.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527489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및 역할 분담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011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58365"/>
            <a:ext cx="16973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3인 팀. </a:t>
            </a: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계층 · 판단하는 계층 · 증명하는 계층</a:t>
            </a:r>
            <a:r>
              <a:rPr lang="en-US" sz="21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한 사람씩 맡고, 네 인터페이스 규격만 초기에 합의하면 세 축이 병렬로 개발된다.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2787015"/>
            <a:ext cx="5168861" cy="5552123"/>
          </a:xfrm>
          <a:prstGeom prst="rect">
            <a:avLst/>
          </a:prstGeom>
          <a:ln w="15240">
            <a:solidFill>
              <a:srgbClr val="224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126105"/>
            <a:ext cx="49816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 · </a:t>
            </a:r>
            <a:r>
              <a:rPr lang="en-US" sz="1800" b="1" kern="0" spc="108" dirty="0" err="1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r>
              <a:rPr lang="en-US" sz="1800" b="1" kern="0" spc="108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800" b="1" kern="0" spc="108" dirty="0" err="1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594735"/>
            <a:ext cx="498165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주진호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63040" y="4154805"/>
            <a:ext cx="466464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백엔드 API와 판정·이의·검토 상태 전이 처리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63040" y="4954905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접근 통제 오프체인 저장과 권한 검증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63040" y="5397818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React 검증 화면과 이용자용 receipt 화면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63040" y="5840730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저장소 소유·관리, 일정·멘토링 조율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63040" y="6283643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제안서와 발표 총괄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63040" y="7504748"/>
            <a:ext cx="45287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7664768"/>
            <a:ext cx="466464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계층 · GitHub jujinho03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59511" y="2787015"/>
            <a:ext cx="5168861" cy="5552123"/>
          </a:xfrm>
          <a:prstGeom prst="rect">
            <a:avLst/>
          </a:prstGeom>
          <a:ln w="15240">
            <a:solidFill>
              <a:srgbClr val="2242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9550" y="3126105"/>
            <a:ext cx="49816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· 판정 정책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79550" y="3594735"/>
            <a:ext cx="498165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2850" b="1" kern="0" spc="-57" dirty="0" err="1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</a:rPr>
              <a:t>노유신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6879550" y="4154805"/>
            <a:ext cx="466464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지원 라벨 정의, 데이터 검토와 baseline 평가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879550" y="4954905"/>
            <a:ext cx="466464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항목 점수·evidence 추출, 오탐 분석과 threshold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879550" y="5755005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정책 규칙과 조치 매핑 설계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879550" y="6197918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시연 시나리오 구성과 리허설 준비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879550" y="7504748"/>
            <a:ext cx="45287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879550" y="7664768"/>
            <a:ext cx="466464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인터페이스 I1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976021" y="2787015"/>
            <a:ext cx="5168861" cy="5552123"/>
          </a:xfrm>
          <a:prstGeom prst="rect">
            <a:avLst/>
          </a:prstGeom>
          <a:ln w="15240">
            <a:solidFill>
              <a:srgbClr val="2242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96061" y="3126105"/>
            <a:ext cx="49816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코어 프로토콜 · 블록체인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296061" y="3594735"/>
            <a:ext cx="498165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2850" b="1" kern="0" spc="-57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설경민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12296061" y="4154805"/>
            <a:ext cx="466464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Decision Receipt 스키마와 결정적 직렬화 규칙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2296061" y="4954905"/>
            <a:ext cx="466464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receipt hash · leaf · Merkle tree · inclusion proof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2296061" y="5755005"/>
            <a:ext cx="466464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epoch commitment 컨트랙트 설계와 testnet 배포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2296061" y="6555105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독립 verifier 로직, 변조 시나리오 테스트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2296061" y="6998018"/>
            <a:ext cx="49816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공통 hash 테스트 벡터 관리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296061" y="7504748"/>
            <a:ext cx="452878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4" name="Text 32"/>
          <p:cNvSpPr/>
          <p:nvPr/>
        </p:nvSpPr>
        <p:spPr>
          <a:xfrm>
            <a:off x="12296061" y="7664768"/>
            <a:ext cx="466464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인터페이스 I2 · I3 · I4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43000" y="8529638"/>
            <a:ext cx="16002000" cy="995363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6" name="Text 34"/>
          <p:cNvSpPr/>
          <p:nvPr/>
        </p:nvSpPr>
        <p:spPr>
          <a:xfrm>
            <a:off x="1485900" y="8682038"/>
            <a:ext cx="1579626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94"/>
              </a:lnSpc>
              <a:buNone/>
            </a:pPr>
            <a:r>
              <a:rPr lang="en-US" sz="1875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작업 — 네 인터페이스 합의, 개인정보 범위, 통합 테스트, 시연 리허설. 기능 브랜치 → Pull Request → 팀원 리뷰 → main 반영을 원칙으로 하며, receipt나 hash 규칙 변경은 세 사람 합의 후 기록한다.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894254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개발증빙 ① — 데모 시연 시나리오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67915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시연 순서 — 고정 응답이 아닌 실제 작동</a:t>
            </a:r>
            <a:endParaRPr lang="en-US" sz="2475" dirty="0"/>
          </a:p>
        </p:txBody>
      </p:sp>
      <p:sp>
        <p:nvSpPr>
          <p:cNvPr id="6" name="Shape 4"/>
          <p:cNvSpPr/>
          <p:nvPr/>
        </p:nvSpPr>
        <p:spPr>
          <a:xfrm>
            <a:off x="1143000" y="3579019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88005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905000" y="3072765"/>
            <a:ext cx="1148334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72"/>
              </a:lnSpc>
              <a:buNone/>
            </a:pPr>
            <a:r>
              <a:rPr lang="en-US" sz="2025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모델이 입력 텍스트에 점수와 조치를 산출한다.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573000" y="3095625"/>
            <a:ext cx="5029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기준 — 응답과 모델·정책 버전 확인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207193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16179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905000" y="3700939"/>
            <a:ext cx="1148334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72"/>
              </a:lnSpc>
              <a:buNone/>
            </a:pPr>
            <a:r>
              <a:rPr lang="en-US" sz="2025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receipt를 발급하고 batch를 만들어 testnet transaction을 전송한다.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573000" y="3723799"/>
            <a:ext cx="5029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기준 — body와 원장 정보의 연결 확인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4835366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44353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905000" y="4329113"/>
            <a:ext cx="1148334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72"/>
              </a:lnSpc>
              <a:buNone/>
            </a:pPr>
            <a:r>
              <a:rPr lang="en-US" sz="2025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클라이언트가 재계산하고 온체인 root를 직접 조회한다.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2573000" y="4351972"/>
            <a:ext cx="5029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기준 — 신뢰한 root에 inclusion 성공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957286"/>
            <a:ext cx="16002000" cy="753904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163026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9DB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2133600" y="5147786"/>
            <a:ext cx="1098042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7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사본의 점수·정책·근거 중 하나를 바꾼 뒤 다시 검증한다.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2344400" y="5170647"/>
            <a:ext cx="5029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기준 — 원래 anchor 기준 검증 실패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465094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974080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905000" y="5958840"/>
            <a:ext cx="1148334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72"/>
              </a:lnSpc>
              <a:buNone/>
            </a:pPr>
            <a:r>
              <a:rPr lang="en-US" sz="2025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이용자가 원래 판정에 대해 이의를 제기한다.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2573000" y="5981700"/>
            <a:ext cx="502920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기준 — 연결된 새 receipt 생성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43000" y="7413784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6602254"/>
            <a:ext cx="609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905000" y="6587014"/>
            <a:ext cx="1148334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872"/>
              </a:lnSpc>
              <a:buNone/>
            </a:pPr>
            <a:r>
              <a:rPr lang="en-US" sz="2025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검토자가 조치를 유지하거나 복구한다.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2573000" y="6609874"/>
            <a:ext cx="470916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기준 — 선행 기록과 최종 receipt 모두 검증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882015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9113520"/>
            <a:ext cx="1648206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20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4번 장면이 이 프로젝트의 승부처다 — 기존 방식이라면 흔적 없이 지나갔을 조작이, 화면 위에서 즉시 드러난다.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437186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보장 범위와 한계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143000" y="193929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329815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48"/>
              </a:lnSpc>
              <a:buNone/>
            </a:pPr>
            <a:r>
              <a:rPr lang="en-US" sz="240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무결성 검증과 판정의 정확성은 다른 문제다. 경계를 분명히 밝히는 것이 이 프로토콜의 설득력이다.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720465"/>
            <a:ext cx="7772400" cy="2286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168015"/>
            <a:ext cx="80055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탐지·검증할 수 있는 것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914775"/>
            <a:ext cx="80055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점수·정책·근거가 사후 변경되면 원본 commitment에 대한 hash·proof가 불일치한다.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853940"/>
            <a:ext cx="854964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receipt에 기록된 모델·정책 식별 정보의 변경을 확인할 수 있다.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5409248"/>
            <a:ext cx="80055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appeal·review 기록의 연결이 끊기거나 바뀌면 inclusion 검증이 실패한다.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6348413"/>
            <a:ext cx="80055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DB가 현재 다른 값을 제시해도, 이용자가 보유한 원본 anchor로 독립 대조가 가능하다.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72600" y="3720465"/>
            <a:ext cx="777240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3168015"/>
            <a:ext cx="80055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보장하지 않는 것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72600" y="3914775"/>
            <a:ext cx="854964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판정이 옳은지, 편향이 제거됐는지는 증명하지 않는다.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72600" y="4470083"/>
            <a:ext cx="80055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허위 입력을 기록했다면 기본 구조로 탐지할 수 없다 — 추론 attestation은 범위 밖이다.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372600" y="5409248"/>
            <a:ext cx="80055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root는 포함된 목록만 commit한다. 아예 기록하지 않은 사건의 부재는 증명하지 못한다.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72600" y="6348413"/>
            <a:ext cx="8005572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81"/>
              </a:lnSpc>
              <a:buNone/>
            </a:pPr>
            <a:r>
              <a:rPr lang="en-US" sz="1950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해시 앵커는 데이터 가용성을 보장하지 않는다. 원문·proof가 유실되면 일부 검증이 불가능해진다.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8156257"/>
            <a:ext cx="16002000" cy="136874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8442007"/>
            <a:ext cx="15643860" cy="835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760"/>
              </a:lnSpc>
              <a:buNone/>
            </a:pPr>
            <a:r>
              <a:rPr lang="en-US" sz="2025" dirty="0">
                <a:solidFill>
                  <a:srgbClr val="33383F"/>
                </a:solidFill>
                <a:highlight>
                  <a:srgbClr val="F4F6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시각과 앵커 시각은 다르다. receipt의 시간은 발급자 주장이고, 블록체인은 해당 commitment의 블록 포함 사실만 제공한다. RPC 장애나 미확정 transaction은 변조가 아니라 </a:t>
            </a:r>
            <a:r>
              <a:rPr lang="en-US" sz="2025" b="1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보류</a:t>
            </a:r>
            <a:r>
              <a:rPr lang="en-US" sz="2025" dirty="0">
                <a:solidFill>
                  <a:srgbClr val="33383F"/>
                </a:solidFill>
                <a:highlight>
                  <a:srgbClr val="F4F6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표시한다.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7240607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개발증빙 — GitHub 저장소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143000" y="2320290"/>
            <a:ext cx="15893415" cy="953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254"/>
              </a:lnSpc>
              <a:buNone/>
            </a:pPr>
            <a:r>
              <a:rPr lang="en-US" sz="23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산출물과 과정을 공개 저장소 </a:t>
            </a:r>
            <a:r>
              <a:rPr lang="en-US" sz="232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github.com/jujinho03/verimod </a:t>
            </a:r>
            <a:r>
              <a:rPr lang="en-US" sz="232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남긴다. 커밋 이력 자체가 개발 과정의 증빙이며, 심사위원이 언제든 진행 상황을 직접 확인할 수 있다.</a:t>
            </a:r>
            <a:endParaRPr lang="en-US" sz="2325" dirty="0"/>
          </a:p>
        </p:txBody>
      </p:sp>
      <p:sp>
        <p:nvSpPr>
          <p:cNvPr id="5" name="Shape 3"/>
          <p:cNvSpPr/>
          <p:nvPr/>
        </p:nvSpPr>
        <p:spPr>
          <a:xfrm>
            <a:off x="1143000" y="3578543"/>
            <a:ext cx="779145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791903"/>
            <a:ext cx="857059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저장소 구조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275772"/>
            <a:ext cx="8025194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 · backend · backend/contracts · docs로 계층을 분리한다. README에 아키텍처와 실행 방법을, docs에 인터페이스 명세와 결정 기록을 둔다.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353550" y="3578543"/>
            <a:ext cx="779145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/>
          <p:nvPr/>
        </p:nvSpPr>
        <p:spPr>
          <a:xfrm>
            <a:off x="9353550" y="3791903"/>
            <a:ext cx="857059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· 리뷰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53550" y="4275772"/>
            <a:ext cx="802519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main과 dev를 두고 기능 브랜치에서 작업한다. Pull Request에 팀원 리뷰를 거쳐 병합하며, 자동 merge와 대리 승인은 쓰지 않는다.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43000" y="5630704"/>
            <a:ext cx="7791450" cy="228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844064"/>
            <a:ext cx="857059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기록 · 이슈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6327934"/>
            <a:ext cx="802519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주차별 계획을 이슈와 마일스톤으로 관리하고, 인터페이스·기술 선택의 변경은 decision register에 이유와 함께 남긴다.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353550" y="5630704"/>
            <a:ext cx="7791450" cy="22860"/>
          </a:xfrm>
          <a:prstGeom prst="rect">
            <a:avLst/>
          </a:prstGeom>
          <a:solidFill>
            <a:srgbClr val="2242A5"/>
          </a:solidFill>
          <a:ln/>
        </p:spPr>
      </p:sp>
      <p:sp>
        <p:nvSpPr>
          <p:cNvPr id="15" name="Text 13"/>
          <p:cNvSpPr/>
          <p:nvPr/>
        </p:nvSpPr>
        <p:spPr>
          <a:xfrm>
            <a:off x="9353550" y="5844064"/>
            <a:ext cx="857059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남길 증거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53550" y="6327934"/>
            <a:ext cx="8025194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모델·데이터 출처와 라이선스, 평가 조건과 결과, 공통 hash 테스트 벡터, contract 주소·chain ID·transaction hash, receipt/proof 예시, 변조 실패 기록, 시연 영상.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7740015"/>
            <a:ext cx="16002000" cy="123348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7987665"/>
            <a:ext cx="1572006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3338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상태 — 저장소 공개 전환 완료, frontend · backend · contracts 기본 골격과 도구 설정이 올라가 있다. 실제 AI 판정, receipt/Merkle, epoch 등록, testnet 배포는 아직 구현 전이며 구분해 보고한다.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9221153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9457373"/>
            <a:ext cx="7966329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 · 규격 </a:t>
            </a: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RFC 8785 (JSON Canonicalization), RFC 9162 (Certificate Transparency v2)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410700" y="9457373"/>
            <a:ext cx="7966329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 · 규제 </a:t>
            </a: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DSA 및 투명성 데이터베이스, EU AI Act, 한국 AI 기본법 (2026.1.22 시행)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34440"/>
            <a:ext cx="41802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694378" y="838200"/>
            <a:ext cx="5837408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139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사항 — 확장 비전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143000" y="2396490"/>
            <a:ext cx="15893415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385"/>
              </a:lnSpc>
              <a:buNone/>
            </a:pPr>
            <a:r>
              <a:rPr lang="en-US" sz="2700" b="1" kern="0" spc="-67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개발 범위는 콘텐츠 모더레이션이다. 같은 commitment 발상은 </a:t>
            </a:r>
            <a:r>
              <a:rPr lang="en-US" sz="2700" b="1" kern="0" spc="-67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자동결정 영역 </a:t>
            </a:r>
            <a:r>
              <a:rPr lang="en-US" sz="2700" b="1" kern="0" spc="-67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에서도 참고할 수 있지만, 영역마다 데이터·평가·규제·책임 구조가 달라 그대로 이식된다고 보지 않는다.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3771900"/>
            <a:ext cx="3843338" cy="135636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4038600"/>
            <a:ext cx="218658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모더레이션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409700" y="4511040"/>
            <a:ext cx="364093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개발 범위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95888" y="3771900"/>
            <a:ext cx="3843338" cy="135636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0207" y="4046220"/>
            <a:ext cx="1170147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심사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5470207" y="4518660"/>
            <a:ext cx="362416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비전 · 별도 검토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48775" y="3771900"/>
            <a:ext cx="3843338" cy="135636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23095" y="4046220"/>
            <a:ext cx="1170147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채용 평가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3095" y="4518660"/>
            <a:ext cx="362416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비전 · 별도 검토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301663" y="3771900"/>
            <a:ext cx="3843338" cy="1356360"/>
          </a:xfrm>
          <a:prstGeom prst="rect">
            <a:avLst/>
          </a:prstGeom>
          <a:ln w="7620">
            <a:solidFill>
              <a:srgbClr val="D7DB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75983" y="4046220"/>
            <a:ext cx="117014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5C62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진단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3575983" y="4518660"/>
            <a:ext cx="362416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90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비전 · 별도 검토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5585460"/>
            <a:ext cx="16002000" cy="9525"/>
          </a:xfrm>
          <a:prstGeom prst="rect">
            <a:avLst/>
          </a:prstGeom>
          <a:solidFill>
            <a:srgbClr val="E3E5E9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878830"/>
            <a:ext cx="85496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"그냥 DB면 안 되나요?"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" y="6313170"/>
            <a:ext cx="8005572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DB는 서비스 운영에 필요하다. 외부 앵커는 플랫폼이 준 현재 응답과 별개로 이용자가 받은 기록을 대조하기 위한 것이다. 전자서명·transparency log라는 대안도 있다.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372600" y="5878830"/>
            <a:ext cx="85496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틀리면요?"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372600" y="6313170"/>
            <a:ext cx="800557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무결성 검증과 판정 정확성은 다른 문제다. 오탐 평가와 불확실성 처리, 이의제기와 사람 검토가 함께 필요하다.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43000" y="7687151"/>
            <a:ext cx="85496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"플랫폼은 왜 도입하나요?"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8121491"/>
            <a:ext cx="800557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신뢰와 감사 자료 준비, 분쟁 대응을 개선할 가능성이 있다. 실제 비용 절감과 도입 의사는 아직 실증 대상이다.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372600" y="7687151"/>
            <a:ext cx="85496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"블록체인이 AI 추론을 검증하나요?"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372600" y="8121491"/>
            <a:ext cx="800557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39"/>
              </a:lnSpc>
              <a:buNone/>
            </a:pPr>
            <a:r>
              <a:rPr lang="en-US" sz="1875" dirty="0">
                <a:solidFill>
                  <a:srgbClr val="4A50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아니다. 기록의 commitment와 inclusion을 확인한다. 추론 attestation과 영지식 추론 검증은 범위 밖이다.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143000" y="9145429"/>
            <a:ext cx="164820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242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VeriMod — Decide. Prove. Appeal.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2609</Words>
  <Application>Microsoft Office PowerPoint</Application>
  <PresentationFormat>사용자 지정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경민 설</cp:lastModifiedBy>
  <cp:revision>2</cp:revision>
  <dcterms:created xsi:type="dcterms:W3CDTF">2026-09-12T04:16:49Z</dcterms:created>
  <dcterms:modified xsi:type="dcterms:W3CDTF">2026-09-12T04:40:58Z</dcterms:modified>
</cp:coreProperties>
</file>